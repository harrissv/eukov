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241E"/>
                </a:solidFill>
                <a:latin typeface="Georgia"/>
              </a:defRPr>
            </a:pPr>
            <a:r>
              <a:t>EUKOV</a:t>
            </a:r>
          </a:p>
          <a:p>
            <a:pPr>
              <a:spcBef>
                <a:spcPts val="600"/>
              </a:spcBef>
              <a:defRPr sz="1600">
                <a:solidFill>
                  <a:srgbClr val="6B5E54"/>
                </a:solidFill>
                <a:latin typeface="Calibri"/>
              </a:defRPr>
            </a:pPr>
            <a:r>
              <a:t>Management Portal — Digital Publishing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Full-stack platform for authors, admins, and readers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Write → Review → Publish → Discover → Read in an immersive 3D flipbook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Role-based portal: Reader · Author · Admin · Super Admin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Built as a modern literary management system with optional AI assistance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Repository: github.com/HarrisSV/Eukov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241E"/>
                </a:solidFill>
                <a:latin typeface="Georgia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Traditional publishing tools are fragmented — writing, review, distribution, and reading live in separate systems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Readers lack a unified library with progress tracking, search, and accessible reading modes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Authors need a single workspace (docket) for drafts, publishing, and audience engagement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Admins require audit trails, access control, and moderation without manual overhead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Public-domain and long-form content (e.g. Project Gutenberg) need proper HTML rendering and pagination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241E"/>
                </a:solidFill>
                <a:latin typeface="Georgia"/>
              </a:defRPr>
            </a:pPr>
            <a:r>
              <a:t>Applications &amp; Use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Author workspace: TipTap rich-text editor, DOCX import/export, autosave, Google Drive import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Publishing workflow: draft → publish → library catalog with genre filters &amp; AI recommendations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3D flipbook reader: bookmarks, in-book search, TTS audio, fullscreen, chapter navigation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Reader docket: issue books, track reading progress, continue where you left off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Admin tools: author review queue, access-key promotion, takedowns, audit logs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Educational &amp; literary archives: seed public-domain titles for institutional reading portals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241E"/>
                </a:solidFill>
                <a:latin typeface="Georgia"/>
              </a:defRPr>
            </a:pPr>
            <a:r>
              <a:t>Tech Stack &amp; System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54880" y="1234440"/>
            <a:ext cx="2377440" cy="59436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C9A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300" b="1">
                <a:solidFill>
                  <a:srgbClr val="2C241E"/>
                </a:solidFill>
                <a:latin typeface="Calibri"/>
              </a:defRPr>
            </a:pPr>
            <a:r>
              <a:t>User Browser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2194560" cy="59436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C9A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solidFill>
                  <a:srgbClr val="2C241E"/>
                </a:solidFill>
                <a:latin typeface="Calibri"/>
              </a:defRPr>
            </a:pPr>
            <a:r>
              <a:t>Docker Compose</a:t>
            </a:r>
            <a:br/>
            <a:r>
              <a:t>(Dev / Deploy)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234440"/>
            <a:ext cx="2194560" cy="59436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C9A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0">
                <a:solidFill>
                  <a:srgbClr val="2C241E"/>
                </a:solidFill>
                <a:latin typeface="Calibri"/>
              </a:defRPr>
            </a:pPr>
            <a:r>
              <a:t>GitHub Actions</a:t>
            </a:r>
            <a:br/>
            <a:r>
              <a:t>(CI Pipeline)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2148840"/>
            <a:ext cx="5303520" cy="96012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C9A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C241E"/>
                </a:solidFill>
                <a:latin typeface="Calibri"/>
              </a:defRPr>
            </a:pPr>
            <a:r>
              <a:t>Frontend — Next.js 15 + TypeScript</a:t>
            </a:r>
            <a:br/>
            <a:r>
              <a:t>Tailwind · TanStack Query · TipTap · StPageFlip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3520440"/>
            <a:ext cx="5303520" cy="96012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C9A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C241E"/>
                </a:solidFill>
                <a:latin typeface="Calibri"/>
              </a:defRPr>
            </a:pPr>
            <a:r>
              <a:t>Backend — Go (Gin) REST API :8080</a:t>
            </a:r>
            <a:br/>
            <a:r>
              <a:t>JWT Auth · RBAC · GORM · Zap Logging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892040"/>
            <a:ext cx="3200400" cy="91440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C9A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C241E"/>
                </a:solidFill>
                <a:latin typeface="Calibri"/>
              </a:defRPr>
            </a:pPr>
            <a:r>
              <a:t>PostgreSQL 16</a:t>
            </a:r>
            <a:br/>
            <a:r>
              <a:t>Users · Documents · Library</a:t>
            </a:r>
            <a:br/>
            <a:r>
              <a:t>Progress · Audit Logs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4892040"/>
            <a:ext cx="2743200" cy="914400"/>
          </a:xfrm>
          <a:prstGeom prst="roundRect">
            <a:avLst/>
          </a:prstGeom>
          <a:solidFill>
            <a:srgbClr val="FFFBF5"/>
          </a:solidFill>
          <a:ln w="19050">
            <a:solidFill>
              <a:srgbClr val="C9A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C241E"/>
                </a:solidFill>
                <a:latin typeface="Calibri"/>
              </a:defRPr>
            </a:pPr>
            <a:r>
              <a:t>File Storage</a:t>
            </a:r>
            <a:br/>
            <a:r>
              <a:t>Drafts · DOCX · Covers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4892040"/>
            <a:ext cx="3200400" cy="914400"/>
          </a:xfrm>
          <a:prstGeom prst="roundRect">
            <a:avLst/>
          </a:prstGeom>
          <a:solidFill>
            <a:srgbClr val="E8D4B8"/>
          </a:solidFill>
          <a:ln w="19050">
            <a:solidFill>
              <a:srgbClr val="C9A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2C241E"/>
                </a:solidFill>
                <a:latin typeface="Calibri"/>
              </a:defRPr>
            </a:pPr>
            <a:r>
              <a:t>AI Layer (Optional)</a:t>
            </a:r>
            <a:br/>
            <a:r>
              <a:t>Hugging Face API</a:t>
            </a:r>
            <a:br/>
            <a:r>
              <a:t>Qwen 2.5 7B Instruct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1828800"/>
            <a:ext cx="0" cy="320040"/>
          </a:xfrm>
          <a:prstGeom prst="line">
            <a:avLst/>
          </a:prstGeom>
          <a:ln w="28575">
            <a:solidFill>
              <a:srgbClr val="8B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943600" y="3108960"/>
            <a:ext cx="0" cy="411480"/>
          </a:xfrm>
          <a:prstGeom prst="line">
            <a:avLst/>
          </a:prstGeom>
          <a:ln w="28575">
            <a:solidFill>
              <a:srgbClr val="8B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514600" y="4480560"/>
            <a:ext cx="2240280" cy="411480"/>
          </a:xfrm>
          <a:prstGeom prst="line">
            <a:avLst/>
          </a:prstGeom>
          <a:ln w="28575">
            <a:solidFill>
              <a:srgbClr val="8B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" y="4480560"/>
            <a:ext cx="0" cy="411480"/>
          </a:xfrm>
          <a:prstGeom prst="line">
            <a:avLst/>
          </a:prstGeom>
          <a:ln w="28575">
            <a:solidFill>
              <a:srgbClr val="8B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4480560"/>
            <a:ext cx="2423160" cy="411480"/>
          </a:xfrm>
          <a:prstGeom prst="line">
            <a:avLst/>
          </a:prstGeom>
          <a:ln w="28575">
            <a:solidFill>
              <a:srgbClr val="8B5A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5989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B5E54"/>
                </a:solidFill>
                <a:latin typeface="Calibri"/>
              </a:defRPr>
            </a:pPr>
            <a:r>
              <a:t>Request flow: Browser → Next.js Portal → Gin API → PostgreSQL / File Storage  |  AI calls: Backend → Hugging Face (proofread, summaries, recommendations)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241E"/>
                </a:solidFill>
                <a:latin typeface="Georgia"/>
              </a:defRPr>
            </a:pPr>
            <a:r>
              <a:t>Drawbacks &amp; Current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AI features depend on external Hugging Face API — latency, rate limits, and token costs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TTS uses browser speech synthesis — voice quality varies by OS/browser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Single-region deployment; no built-in CDN for global media delivery yet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Mobile reader experience is functional but not fully optimized for small screens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No native mobile apps — web-only portal at present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Limited real-time collaboration (no multi-author simultaneous editing)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241E"/>
                </a:solidFill>
                <a:latin typeface="Georgia"/>
              </a:defRPr>
            </a:pPr>
            <a:r>
              <a:t>Future Applications</a:t>
            </a:r>
          </a:p>
          <a:p>
            <a:pPr>
              <a:spcBef>
                <a:spcPts val="600"/>
              </a:spcBef>
              <a:defRPr sz="1600">
                <a:solidFill>
                  <a:srgbClr val="6B5E54"/>
                </a:solidFill>
                <a:latin typeface="Calibri"/>
              </a:defRPr>
            </a:pPr>
            <a:r>
              <a:t>Addressing current drawbacks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Self-hosted or fine-tuned AI models for faster, offline-capable proofread &amp; summaries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Cloud TTS integration (ElevenLabs / Azure) for consistent, high-quality audio reading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CDN + object storage (S3/Cloudflare R2) for covers, DOCX, and paginated content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Progressive Web App (PWA) and responsive reader redesign for mobile-first reading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Real-time collaborative editing with operational transforms or CRDT sync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Analytics dashboard: reader engagement, completion rates, author performance metrics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OAuth SSO, email notifications, and subscription/monetization for authors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2C241E"/>
                </a:solidFill>
                <a:latin typeface="Georgia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EUKOV unifies the entire publishing lifecycle in one editorial management portal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Go + PostgreSQL backend delivers secure RBAC, audit logging, and scalable document APIs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Next.js frontend provides a warm, literary UI with 3D reading and AI-enhanced workflows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Docker Compose enables one-command local dev and production-ready containerization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Optional Qwen AI adds intelligent recommendations, proofreading, and book summaries</a:t>
            </a:r>
          </a:p>
          <a:p>
            <a:pPr>
              <a:spcAft>
                <a:spcPts val="1000"/>
              </a:spcAft>
              <a:defRPr sz="2000">
                <a:solidFill>
                  <a:srgbClr val="2C241E"/>
                </a:solidFill>
                <a:latin typeface="Calibri"/>
              </a:defRPr>
            </a:pPr>
            <a:r>
              <a:t>A solid foundation for digital libraries, author platforms, and institutional publishing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5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377440"/>
            <a:ext cx="121916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Georgia"/>
              </a:defRPr>
            </a:pPr>
            <a:r>
              <a:t>The End</a:t>
            </a:r>
          </a:p>
          <a:p>
            <a:pPr algn="ctr">
              <a:spcBef>
                <a:spcPts val="1400"/>
              </a:spcBef>
              <a:defRPr sz="2200">
                <a:solidFill>
                  <a:srgbClr val="F7F1E8"/>
                </a:solidFill>
                <a:latin typeface="Calibri"/>
              </a:defRPr>
            </a:pPr>
            <a:r>
              <a:t>EUKOV — Management Portal</a:t>
            </a:r>
          </a:p>
          <a:p>
            <a:pPr algn="ctr">
              <a:spcBef>
                <a:spcPts val="2000"/>
              </a:spcBef>
              <a:defRPr sz="1800">
                <a:solidFill>
                  <a:srgbClr val="E8D4B8"/>
                </a:solidFill>
                <a:latin typeface="Calibri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