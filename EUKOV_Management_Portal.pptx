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457200"/>
            <a:ext cx="3657600" cy="3657600"/>
          </a:xfrm>
          <a:prstGeom prst="ellipse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488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E2A3A"/>
                </a:solidFill>
                <a:latin typeface="Georgia"/>
              </a:rPr>
              <a:t>EUKOV </a:t>
            </a:r>
            <a:r>
              <a:rPr sz="4400" b="1">
                <a:solidFill>
                  <a:srgbClr val="C46D3A"/>
                </a:solidFill>
                <a:latin typeface="Georgia"/>
              </a:rPr>
              <a:t>Management Portal</a:t>
            </a:r>
          </a:p>
          <a:p>
            <a:pPr algn="ctr">
              <a:spcBef>
                <a:spcPts val="1600"/>
              </a:spcBef>
              <a:defRPr sz="1700">
                <a:solidFill>
                  <a:srgbClr val="5C5C5C"/>
                </a:solidFill>
                <a:latin typeface="Calibri"/>
              </a:defRPr>
            </a:pPr>
            <a:r>
              <a:t>An intuitive, unified digital publishing platform to write, review, publish, and explore long-form works in a 3D flipbook reader.</a:t>
            </a:r>
          </a:p>
          <a:p>
            <a:pPr algn="ctr">
              <a:spcBef>
                <a:spcPts val="2800"/>
              </a:spcBef>
              <a:defRPr sz="1100">
                <a:solidFill>
                  <a:srgbClr val="9A9A9A"/>
                </a:solidFill>
                <a:latin typeface="Calibri"/>
              </a:defRPr>
            </a:pPr>
            <a:r>
              <a:t>github.com/HarrisSV/Eukov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0175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3A"/>
                </a:solidFill>
                <a:latin typeface="Georgia"/>
              </a:defRPr>
            </a:pPr>
            <a:r>
              <a:t>The Publishing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349240" cy="43891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320040" wrap="square"/>
          <a:lstStyle/>
          <a:p>
            <a:pPr algn="ctr">
              <a:defRPr sz="2000" b="1">
                <a:solidFill>
                  <a:srgbClr val="1E2A3A"/>
                </a:solidFill>
                <a:latin typeface="Georgia"/>
              </a:defRPr>
            </a:pPr>
            <a:r>
              <a:t>Fragmented Systems</a:t>
            </a:r>
          </a:p>
          <a:p>
            <a:pPr>
              <a:spcBef>
                <a:spcPts val="1200"/>
              </a:spcBef>
              <a:defRPr sz="1500">
                <a:solidFill>
                  <a:srgbClr val="5C5C5C"/>
                </a:solidFill>
                <a:latin typeface="Calibri"/>
              </a:defRPr>
            </a:pPr>
            <a:r>
              <a:t>Traditional publishing scatters writing, review, distribution, and reading across disconnected tools — slowing authors and operators alike.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5349240" cy="54864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349240" cy="438912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320040" wrap="square"/>
          <a:lstStyle/>
          <a:p>
            <a:pPr algn="ctr">
              <a:defRPr sz="2000" b="1">
                <a:solidFill>
                  <a:srgbClr val="1E2A3A"/>
                </a:solidFill>
                <a:latin typeface="Georgia"/>
              </a:defRPr>
            </a:pPr>
            <a:r>
              <a:t>Lacking Reader UX</a:t>
            </a:r>
          </a:p>
          <a:p>
            <a:pPr>
              <a:spcBef>
                <a:spcPts val="1200"/>
              </a:spcBef>
              <a:defRPr sz="1500">
                <a:solidFill>
                  <a:srgbClr val="5C5C5C"/>
                </a:solidFill>
                <a:latin typeface="Calibri"/>
              </a:defRPr>
            </a:pPr>
            <a:r>
              <a:t>Basic portals miss bookmarks, in-book search with highlights, reading-progress sync, immersive pagination, and accessible audio for long-form archives (e.g. Project Gutenberg).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25880"/>
            <a:ext cx="5349240" cy="54864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0175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3A"/>
                </a:solidFill>
                <a:latin typeface="Georgia"/>
              </a:defRPr>
            </a:pPr>
            <a:r>
              <a:t>Our Unified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46D3A"/>
                </a:solidFill>
                <a:latin typeface="Calibri"/>
              </a:defRPr>
            </a:pPr>
            <a:r>
              <a:t>Bringing all publishing tasks into one editorial hub: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A3A"/>
                </a:solidFill>
                <a:latin typeface="Calibri"/>
              </a:defRPr>
            </a:pPr>
            <a:r>
              <a:t>• Universal Docket — create, autosave, and publish manuscripts in a rich TipTap editor</a:t>
            </a:r>
          </a:p>
          <a:p>
            <a:pPr>
              <a:spcAft>
                <a:spcPts val="1400"/>
              </a:spcAft>
              <a:defRPr sz="1600">
                <a:solidFill>
                  <a:srgbClr val="1E2A3A"/>
                </a:solidFill>
                <a:latin typeface="Calibri"/>
              </a:defRPr>
            </a:pPr>
            <a:r>
              <a:t>• 3D Flipbook Reader — StPageFlip animations, fullscreen, chapters, TTS &amp; word highlighting</a:t>
            </a:r>
          </a:p>
          <a:p>
            <a:pPr>
              <a:spcAft>
                <a:spcPts val="1400"/>
              </a:spcAft>
              <a:defRPr sz="1600">
                <a:solidFill>
                  <a:srgbClr val="1E2A3A"/>
                </a:solidFill>
                <a:latin typeface="Calibri"/>
              </a:defRPr>
            </a:pPr>
            <a:r>
              <a:t>• Two-Tier Roles — Readers explore the library; one Super Admin runs the entire platform (Author + Admin + Super Admin capabilities unified in a single bootstrap account)</a:t>
            </a:r>
          </a:p>
          <a:p>
            <a:pPr>
              <a:spcAft>
                <a:spcPts val="1400"/>
              </a:spcAft>
              <a:defRPr sz="1600">
                <a:solidFill>
                  <a:srgbClr val="1E2A3A"/>
                </a:solidFill>
                <a:latin typeface="Calibri"/>
              </a:defRPr>
            </a:pPr>
            <a:r>
              <a:t>• Optional Qwen AI — proofread, quick/full summaries, and personalized recommendations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0175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3A"/>
                </a:solidFill>
                <a:latin typeface="Georgia"/>
              </a:defRPr>
            </a:pPr>
            <a:r>
              <a:t>Platform 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520440" cy="4480560"/>
          </a:xfrm>
          <a:prstGeom prst="roundRect">
            <a:avLst/>
          </a:prstGeom>
          <a:solidFill>
            <a:srgbClr val="FFFDF8"/>
          </a:solidFill>
          <a:ln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0" wrap="square"/>
          <a:lstStyle/>
          <a:p>
            <a:pPr algn="ctr">
              <a:defRPr sz="1800" b="1">
                <a:solidFill>
                  <a:srgbClr val="1E2A3A"/>
                </a:solidFill>
                <a:latin typeface="Georgia"/>
              </a:defRPr>
            </a:pPr>
            <a:r>
              <a:t>For Readers</a:t>
            </a:r>
          </a:p>
          <a:p>
            <a:pPr>
              <a:spcBef>
                <a:spcPts val="1000"/>
              </a:spcBef>
              <a:defRPr sz="1300">
                <a:solidFill>
                  <a:srgbClr val="5C5C5C"/>
                </a:solidFill>
                <a:latin typeface="Calibri"/>
              </a:defRPr>
            </a:pPr>
            <a:r>
              <a:t>Browse the global library, issue books to your docket, read in fullscreen with bookmarks, yellow search highlights, progress sync, and browser TTS narration.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3520440" cy="4480560"/>
          </a:xfrm>
          <a:prstGeom prst="roundRect">
            <a:avLst/>
          </a:prstGeom>
          <a:solidFill>
            <a:srgbClr val="FFFDF8"/>
          </a:solidFill>
          <a:ln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0" wrap="square"/>
          <a:lstStyle/>
          <a:p>
            <a:pPr algn="ctr">
              <a:defRPr sz="1800" b="1">
                <a:solidFill>
                  <a:srgbClr val="1E2A3A"/>
                </a:solidFill>
                <a:latin typeface="Georgia"/>
              </a:defRPr>
            </a:pPr>
            <a:r>
              <a:t>For Super Admin</a:t>
            </a:r>
          </a:p>
          <a:p>
            <a:pPr>
              <a:spcBef>
                <a:spcPts val="1000"/>
              </a:spcBef>
              <a:defRPr sz="1300">
                <a:solidFill>
                  <a:srgbClr val="5C5C5C"/>
                </a:solidFill>
                <a:latin typeface="Calibri"/>
              </a:defRPr>
            </a:pPr>
            <a:r>
              <a:t>Single platform operator: write &amp; publish in the docket, review author applications, generate access keys, manage takedowns, audit logs, and inbox messaging.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25880"/>
            <a:ext cx="3520440" cy="4480560"/>
          </a:xfrm>
          <a:prstGeom prst="roundRect">
            <a:avLst/>
          </a:prstGeom>
          <a:solidFill>
            <a:srgbClr val="FFFDF8"/>
          </a:solidFill>
          <a:ln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274320" wrap="square"/>
          <a:lstStyle/>
          <a:p>
            <a:pPr algn="ctr">
              <a:defRPr sz="1800" b="1">
                <a:solidFill>
                  <a:srgbClr val="1E2A3A"/>
                </a:solidFill>
                <a:latin typeface="Georgia"/>
              </a:defRPr>
            </a:pPr>
            <a:r>
              <a:t>AI Helper (Qwen)</a:t>
            </a:r>
          </a:p>
          <a:p>
            <a:pPr>
              <a:spcBef>
                <a:spcPts val="1000"/>
              </a:spcBef>
              <a:defRPr sz="1300">
                <a:solidFill>
                  <a:srgbClr val="5C5C5C"/>
                </a:solidFill>
                <a:latin typeface="Calibri"/>
              </a:defRPr>
            </a:pPr>
            <a:r>
              <a:t>Optional Hugging Face integration for grammar proofread, book digests, full-book AI summaries, and genre-aware library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0175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3A"/>
                </a:solidFill>
                <a:latin typeface="Georgia"/>
              </a:defRPr>
            </a:pPr>
            <a:r>
              <a:t>Tech Stack &amp; System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188720"/>
            <a:ext cx="2377440" cy="54864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A3A"/>
                </a:solidFill>
                <a:latin typeface="Calibri"/>
              </a:defRPr>
            </a:pPr>
            <a:r>
              <a:t>User Browser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011680"/>
            <a:ext cx="5577840" cy="8686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A3A"/>
                </a:solidFill>
                <a:latin typeface="Calibri"/>
              </a:defRPr>
            </a:pPr>
            <a:r>
              <a:t>Frontend — Next.js 15 · TypeScript · Tailwind</a:t>
            </a:r>
            <a:br/>
            <a:r>
              <a:t>TipTap Editor · StPageFlip Reader · TanStack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246120"/>
            <a:ext cx="5577840" cy="8686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A3A"/>
                </a:solidFill>
                <a:latin typeface="Calibri"/>
              </a:defRPr>
            </a:pPr>
            <a:r>
              <a:t>Backend — Go (Gin) REST API :8080</a:t>
            </a:r>
            <a:br/>
            <a:r>
              <a:t>JWT · RBAC · GORM · Zap · Docker Compose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3017520" cy="8686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A3A"/>
                </a:solidFill>
                <a:latin typeface="Calibri"/>
              </a:defRPr>
            </a:pPr>
            <a:r>
              <a:t>PostgreSQL 16</a:t>
            </a:r>
            <a:br/>
            <a:r>
              <a:t>Users · Documents · Library · Audit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4526280"/>
            <a:ext cx="2560320" cy="868680"/>
          </a:xfrm>
          <a:prstGeom prst="roundRect">
            <a:avLst/>
          </a:prstGeom>
          <a:solidFill>
            <a:srgbClr val="FFFDF8"/>
          </a:solidFill>
          <a:ln w="19050"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A3A"/>
                </a:solidFill>
                <a:latin typeface="Calibri"/>
              </a:defRPr>
            </a:pPr>
            <a:r>
              <a:t>File Storage</a:t>
            </a:r>
            <a:br/>
            <a:r>
              <a:t>Drafts · DOCX · Covers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0" y="4526280"/>
            <a:ext cx="3200400" cy="868680"/>
          </a:xfrm>
          <a:prstGeom prst="roundRect">
            <a:avLst/>
          </a:prstGeom>
          <a:solidFill>
            <a:srgbClr val="F3E6D4"/>
          </a:solidFill>
          <a:ln w="19050"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2A3A"/>
                </a:solidFill>
                <a:latin typeface="Calibri"/>
              </a:defRPr>
            </a:pPr>
            <a:r>
              <a:t>AI (Optional)</a:t>
            </a:r>
            <a:br/>
            <a:r>
              <a:t>Hugging Face — Qwen 2.5 7B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1737360"/>
            <a:ext cx="0" cy="274320"/>
          </a:xfrm>
          <a:prstGeom prst="line">
            <a:avLst/>
          </a:prstGeom>
          <a:ln w="25400">
            <a:solidFill>
              <a:srgbClr val="C46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943600" y="2880360"/>
            <a:ext cx="0" cy="365760"/>
          </a:xfrm>
          <a:prstGeom prst="line">
            <a:avLst/>
          </a:prstGeom>
          <a:ln w="25400">
            <a:solidFill>
              <a:srgbClr val="C46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331720" y="4114800"/>
            <a:ext cx="2240280" cy="411480"/>
          </a:xfrm>
          <a:prstGeom prst="line">
            <a:avLst/>
          </a:prstGeom>
          <a:ln w="25400">
            <a:solidFill>
              <a:srgbClr val="C46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6400" y="4114800"/>
            <a:ext cx="457200" cy="411480"/>
          </a:xfrm>
          <a:prstGeom prst="line">
            <a:avLst/>
          </a:prstGeom>
          <a:ln w="25400">
            <a:solidFill>
              <a:srgbClr val="C46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315200" y="4114800"/>
            <a:ext cx="1508760" cy="411480"/>
          </a:xfrm>
          <a:prstGeom prst="line">
            <a:avLst/>
          </a:prstGeom>
          <a:ln w="25400">
            <a:solidFill>
              <a:srgbClr val="C46D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C5C5C"/>
                </a:solidFill>
                <a:latin typeface="Calibri"/>
              </a:defRPr>
            </a:pPr>
            <a:r>
              <a:t>Flow: Browser → Next.js Portal → Gin API → PostgreSQL / uploads  |  AI: proofread, summaries, recommendations via Hugging 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0175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3A"/>
                </a:solidFill>
                <a:latin typeface="Georgia"/>
              </a:defRPr>
            </a:pPr>
            <a:r>
              <a:t>User Role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C46D3A"/>
                </a:solidFill>
                <a:latin typeface="Calibri"/>
              </a:defRPr>
            </a:pPr>
            <a:r>
              <a:t>EUKOV uses a two-tier model: Readers consume content; one Super Admin account (bootstrapped at deploy) holds unified Author + Admin + Super Admin powers.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08760"/>
          <a:ext cx="108356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7010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E2A3A"/>
                          </a:solidFill>
                          <a:latin typeface="Calibri"/>
                        </a:defRPr>
                      </a:pPr>
                      <a:r>
                        <a:t>Feature Activity</a:t>
                      </a:r>
                    </a:p>
                  </a:txBody>
                  <a:tcPr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E2A3A"/>
                          </a:solidFill>
                          <a:latin typeface="Calibri"/>
                        </a:defRPr>
                      </a:pPr>
                      <a:r>
                        <a:t>Reader</a:t>
                      </a:r>
                    </a:p>
                  </a:txBody>
                  <a:tcPr>
                    <a:solidFill>
                      <a:srgbClr val="F5ED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E2A3A"/>
                          </a:solidFill>
                          <a:latin typeface="Calibri"/>
                        </a:defRPr>
                      </a:pPr>
                      <a:r>
                        <a:t>Super Admin (single account)</a:t>
                      </a:r>
                    </a:p>
                  </a:txBody>
                  <a:tcPr>
                    <a:solidFill>
                      <a:srgbClr val="F5EDE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A3A"/>
                          </a:solidFill>
                          <a:latin typeface="Calibri"/>
                        </a:defRPr>
                      </a:pPr>
                      <a:r>
                        <a:t>Interactive 3D flipbook reader, bookmarks, in-book search, TTS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A3A"/>
                          </a:solidFill>
                          <a:latin typeface="Calibri"/>
                        </a:defRPr>
                      </a:pPr>
                      <a:r>
                        <a:t>Library browse, issue books, reading progress &amp; continue 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A3A"/>
                          </a:solidFill>
                          <a:latin typeface="Calibri"/>
                        </a:defRPr>
                      </a:pPr>
                      <a:r>
                        <a:t>Docket editor — write, autosave, DOCX import/export, publish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A3A"/>
                          </a:solidFill>
                          <a:latin typeface="Calibri"/>
                        </a:defRPr>
                      </a:pPr>
                      <a:r>
                        <a:t>Author review queue, inbox messaging, access-key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A3A"/>
                          </a:solidFill>
                          <a:latin typeface="Calibri"/>
                        </a:defRPr>
                      </a:pPr>
                      <a:r>
                        <a:t>Audit logs, published-script takedowns, platform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46D3A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0175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3A"/>
                </a:solidFill>
                <a:latin typeface="Georgia"/>
              </a:defRPr>
            </a:pPr>
            <a:r>
              <a:t>Platform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960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46D3A"/>
                </a:solidFill>
                <a:latin typeface="Calibri"/>
              </a:defRPr>
            </a:pPr>
            <a:r>
              <a:t>Current growth constraints: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1E2A3A"/>
                </a:solidFill>
                <a:latin typeface="Calibri"/>
              </a:defRPr>
            </a:pPr>
            <a:r>
              <a:t>• AI Speed Cap — depends on Hugging Face API latency, rate limits, and token availability</a:t>
            </a:r>
          </a:p>
          <a:p>
            <a:pPr>
              <a:spcAft>
                <a:spcPts val="1400"/>
              </a:spcAft>
              <a:defRPr sz="1600">
                <a:solidFill>
                  <a:srgbClr val="1E2A3A"/>
                </a:solidFill>
                <a:latin typeface="Calibri"/>
              </a:defRPr>
            </a:pPr>
            <a:r>
              <a:t>• Basic Narration — TTS uses the browser speech engine; voice quality varies by OS</a:t>
            </a:r>
          </a:p>
          <a:p>
            <a:pPr>
              <a:spcAft>
                <a:spcPts val="1400"/>
              </a:spcAft>
              <a:defRPr sz="1600">
                <a:solidFill>
                  <a:srgbClr val="1E2A3A"/>
                </a:solidFill>
                <a:latin typeface="Calibri"/>
              </a:defRPr>
            </a:pPr>
            <a:r>
              <a:t>• Web Only — desktop-first portal; native mobile apps not yet available</a:t>
            </a:r>
          </a:p>
          <a:p>
            <a:pPr>
              <a:spcAft>
                <a:spcPts val="1400"/>
              </a:spcAft>
              <a:defRPr sz="1600">
                <a:solidFill>
                  <a:srgbClr val="1E2A3A"/>
                </a:solidFill>
                <a:latin typeface="Calibri"/>
              </a:defRPr>
            </a:pPr>
            <a:r>
              <a:t>• Single Super Admin — platform governance centralized on one bootstrap account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73152" cy="502920"/>
          </a:xfrm>
          <a:prstGeom prst="rect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301752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A3A"/>
                </a:solidFill>
                <a:latin typeface="Georgia"/>
              </a:defRPr>
            </a:pPr>
            <a:r>
              <a:t>Platform Future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246120"/>
            <a:ext cx="9966960" cy="36576"/>
          </a:xfrm>
          <a:prstGeom prst="rect">
            <a:avLst/>
          </a:prstGeom>
          <a:solidFill>
            <a:srgbClr val="F5C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17320" y="3127248"/>
            <a:ext cx="256032" cy="256032"/>
          </a:xfrm>
          <a:prstGeom prst="ellipse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79" y="3977639"/>
            <a:ext cx="228600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b="1" sz="1400">
                <a:solidFill>
                  <a:srgbClr val="1E2A3A"/>
                </a:solidFill>
                <a:latin typeface="Georgia"/>
              </a:defRPr>
            </a:pPr>
            <a:r>
              <a:t>Phase 1</a:t>
            </a:r>
          </a:p>
          <a:p>
            <a:pPr>
              <a:spcBef>
                <a:spcPts val="600"/>
              </a:spcBef>
              <a:defRPr sz="1100">
                <a:solidFill>
                  <a:srgbClr val="5C5C5C"/>
                </a:solidFill>
                <a:latin typeface="Calibri"/>
              </a:defRPr>
            </a:pPr>
            <a:r>
              <a:t>Host AI on internal servers for faster, offline-ready proofread &amp; summaries.</a:t>
            </a:r>
          </a:p>
        </p:txBody>
      </p:sp>
      <p:sp>
        <p:nvSpPr>
          <p:cNvPr id="7" name="Oval 6"/>
          <p:cNvSpPr/>
          <p:nvPr/>
        </p:nvSpPr>
        <p:spPr>
          <a:xfrm>
            <a:off x="2606040" y="3127248"/>
            <a:ext cx="256032" cy="256032"/>
          </a:xfrm>
          <a:prstGeom prst="ellipse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600200" y="1828800"/>
            <a:ext cx="228600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b="1" sz="1400">
                <a:solidFill>
                  <a:srgbClr val="1E2A3A"/>
                </a:solidFill>
                <a:latin typeface="Georgia"/>
              </a:defRPr>
            </a:pPr>
            <a:r>
              <a:t>Phase 2</a:t>
            </a:r>
          </a:p>
          <a:p>
            <a:pPr>
              <a:spcBef>
                <a:spcPts val="600"/>
              </a:spcBef>
              <a:defRPr sz="1100">
                <a:solidFill>
                  <a:srgbClr val="5C5C5C"/>
                </a:solidFill>
                <a:latin typeface="Calibri"/>
              </a:defRPr>
            </a:pPr>
            <a:r>
              <a:t>Premium cloud TTS for consistent audiobook-quality narration.</a:t>
            </a:r>
          </a:p>
        </p:txBody>
      </p:sp>
      <p:sp>
        <p:nvSpPr>
          <p:cNvPr id="9" name="Oval 8"/>
          <p:cNvSpPr/>
          <p:nvPr/>
        </p:nvSpPr>
        <p:spPr>
          <a:xfrm>
            <a:off x="3794760" y="3127248"/>
            <a:ext cx="256032" cy="256032"/>
          </a:xfrm>
          <a:prstGeom prst="ellipse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3977639"/>
            <a:ext cx="228600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b="1" sz="1400">
                <a:solidFill>
                  <a:srgbClr val="1E2A3A"/>
                </a:solidFill>
                <a:latin typeface="Georgia"/>
              </a:defRPr>
            </a:pPr>
            <a:r>
              <a:t>Phase 3</a:t>
            </a:r>
          </a:p>
          <a:p>
            <a:pPr>
              <a:spcBef>
                <a:spcPts val="600"/>
              </a:spcBef>
              <a:defRPr sz="1100">
                <a:solidFill>
                  <a:srgbClr val="5C5C5C"/>
                </a:solidFill>
                <a:latin typeface="Calibri"/>
              </a:defRPr>
            </a:pPr>
            <a:r>
              <a:t>Progressive Web App + mobile-first reader redesign.</a:t>
            </a:r>
          </a:p>
        </p:txBody>
      </p:sp>
      <p:sp>
        <p:nvSpPr>
          <p:cNvPr id="11" name="Oval 10"/>
          <p:cNvSpPr/>
          <p:nvPr/>
        </p:nvSpPr>
        <p:spPr>
          <a:xfrm>
            <a:off x="4983480" y="3127248"/>
            <a:ext cx="256032" cy="256032"/>
          </a:xfrm>
          <a:prstGeom prst="ellipse">
            <a:avLst/>
          </a:prstGeom>
          <a:solidFill>
            <a:srgbClr val="C46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7639" y="1828800"/>
            <a:ext cx="2286000" cy="1234440"/>
          </a:xfrm>
          <a:prstGeom prst="roundRect">
            <a:avLst/>
          </a:prstGeom>
          <a:solidFill>
            <a:srgbClr val="FFFDF8"/>
          </a:solidFill>
          <a:ln>
            <a:solidFill>
              <a:srgbClr val="E8D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defRPr b="1" sz="1400">
                <a:solidFill>
                  <a:srgbClr val="1E2A3A"/>
                </a:solidFill>
                <a:latin typeface="Georgia"/>
              </a:defRPr>
            </a:pPr>
            <a:r>
              <a:t>Phase 4</a:t>
            </a:r>
          </a:p>
          <a:p>
            <a:pPr>
              <a:spcBef>
                <a:spcPts val="600"/>
              </a:spcBef>
              <a:defRPr sz="1100">
                <a:solidFill>
                  <a:srgbClr val="5C5C5C"/>
                </a:solidFill>
                <a:latin typeface="Calibri"/>
              </a:defRPr>
            </a:pPr>
            <a:r>
              <a:t>Real-time co-authoring and collaborative writers' rooms.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-457200"/>
            <a:ext cx="3657600" cy="3657600"/>
          </a:xfrm>
          <a:prstGeom prst="ellipse">
            <a:avLst/>
          </a:prstGeom>
          <a:solidFill>
            <a:srgbClr val="FFF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6984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2A3A"/>
                </a:solidFill>
                <a:latin typeface="Georgia"/>
              </a:defRPr>
            </a:pPr>
            <a:r>
              <a:t>Questions &amp; Answers</a:t>
            </a:r>
          </a:p>
          <a:p>
            <a:pPr algn="ctr">
              <a:spcBef>
                <a:spcPts val="1400"/>
              </a:spcBef>
              <a:defRPr sz="1700">
                <a:solidFill>
                  <a:srgbClr val="5C5C5C"/>
                </a:solidFill>
                <a:latin typeface="Calibri"/>
              </a:defRPr>
            </a:pPr>
            <a:r>
              <a:t>Thank you for exploring the future of digital literature.</a:t>
            </a:r>
          </a:p>
          <a:p>
            <a:pPr algn="ctr">
              <a:spcBef>
                <a:spcPts val="3600"/>
              </a:spcBef>
              <a:defRPr sz="1300">
                <a:solidFill>
                  <a:srgbClr val="C46D3A"/>
                </a:solidFill>
                <a:latin typeface="Calibri"/>
              </a:defRPr>
            </a:pPr>
            <a:r>
              <a:t>EUKOV Management Portal  ·  github.com/HarrisSV/Eukov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